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0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11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03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05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38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83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7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8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306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51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35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3D6B11C-6E74-C4A8-4E50-6317CD66A550}"/>
              </a:ext>
            </a:extLst>
          </p:cNvPr>
          <p:cNvSpPr/>
          <p:nvPr/>
        </p:nvSpPr>
        <p:spPr>
          <a:xfrm>
            <a:off x="5540661" y="917491"/>
            <a:ext cx="5919572" cy="50985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tx1"/>
              </a:solidFill>
              <a:latin typeface="Segoe UI" panose="020B0604020202020204" pitchFamily="34" charset="0"/>
              <a:cs typeface="Segoe UI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CEAF07-016B-B46B-A891-43566D92A9E5}"/>
              </a:ext>
            </a:extLst>
          </p:cNvPr>
          <p:cNvSpPr/>
          <p:nvPr/>
        </p:nvSpPr>
        <p:spPr>
          <a:xfrm>
            <a:off x="5573486" y="944548"/>
            <a:ext cx="5677106" cy="5098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endParaRPr lang="en-US" sz="900" b="1" dirty="0">
              <a:solidFill>
                <a:prstClr val="black"/>
              </a:solidFill>
              <a:latin typeface="Segoe UI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2E940B0-3AE7-02FC-6399-FA5E06A17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5667" y="48811"/>
            <a:ext cx="5823856" cy="1737360"/>
          </a:xfr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0B1D39"/>
                </a:solidFill>
                <a:latin typeface="Segoe UI"/>
                <a:ea typeface="+mn-ea"/>
                <a:cs typeface="+mn-cs"/>
              </a:rPr>
              <a:t>                                         MDA QA INTG: Delivery Updates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E79932-09FE-E1F9-6BC0-A348DB98F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538075"/>
              </p:ext>
            </p:extLst>
          </p:nvPr>
        </p:nvGraphicFramePr>
        <p:xfrm>
          <a:off x="5664219" y="4278640"/>
          <a:ext cx="5292874" cy="1225545"/>
        </p:xfrm>
        <a:graphic>
          <a:graphicData uri="http://schemas.openxmlformats.org/drawingml/2006/table">
            <a:tbl>
              <a:tblPr/>
              <a:tblGrid>
                <a:gridCol w="1327790">
                  <a:extLst>
                    <a:ext uri="{9D8B030D-6E8A-4147-A177-3AD203B41FA5}">
                      <a16:colId xmlns:a16="http://schemas.microsoft.com/office/drawing/2014/main" val="1438297696"/>
                    </a:ext>
                  </a:extLst>
                </a:gridCol>
                <a:gridCol w="531189">
                  <a:extLst>
                    <a:ext uri="{9D8B030D-6E8A-4147-A177-3AD203B41FA5}">
                      <a16:colId xmlns:a16="http://schemas.microsoft.com/office/drawing/2014/main" val="986964227"/>
                    </a:ext>
                  </a:extLst>
                </a:gridCol>
                <a:gridCol w="707468">
                  <a:extLst>
                    <a:ext uri="{9D8B030D-6E8A-4147-A177-3AD203B41FA5}">
                      <a16:colId xmlns:a16="http://schemas.microsoft.com/office/drawing/2014/main" val="872245016"/>
                    </a:ext>
                  </a:extLst>
                </a:gridCol>
                <a:gridCol w="523377">
                  <a:extLst>
                    <a:ext uri="{9D8B030D-6E8A-4147-A177-3AD203B41FA5}">
                      <a16:colId xmlns:a16="http://schemas.microsoft.com/office/drawing/2014/main" val="2458755031"/>
                    </a:ext>
                  </a:extLst>
                </a:gridCol>
                <a:gridCol w="742465">
                  <a:extLst>
                    <a:ext uri="{9D8B030D-6E8A-4147-A177-3AD203B41FA5}">
                      <a16:colId xmlns:a16="http://schemas.microsoft.com/office/drawing/2014/main" val="1307860481"/>
                    </a:ext>
                  </a:extLst>
                </a:gridCol>
                <a:gridCol w="742465">
                  <a:extLst>
                    <a:ext uri="{9D8B030D-6E8A-4147-A177-3AD203B41FA5}">
                      <a16:colId xmlns:a16="http://schemas.microsoft.com/office/drawing/2014/main" val="2449277555"/>
                    </a:ext>
                  </a:extLst>
                </a:gridCol>
                <a:gridCol w="718120">
                  <a:extLst>
                    <a:ext uri="{9D8B030D-6E8A-4147-A177-3AD203B41FA5}">
                      <a16:colId xmlns:a16="http://schemas.microsoft.com/office/drawing/2014/main" val="3476617854"/>
                    </a:ext>
                  </a:extLst>
                </a:gridCol>
              </a:tblGrid>
              <a:tr h="343179">
                <a:tc>
                  <a:txBody>
                    <a:bodyPr/>
                    <a:lstStyle/>
                    <a:p>
                      <a:pPr algn="ctr" rtl="0" font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604020202020204" pitchFamily="34" charset="0"/>
                          <a:cs typeface="Segoe UI" panose="020B0604020202020204" pitchFamily="34" charset="0"/>
                        </a:rPr>
                        <a:t>Releases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604020202020204" pitchFamily="34" charset="0"/>
                          <a:cs typeface="Segoe UI" panose="020B0604020202020204" pitchFamily="34" charset="0"/>
                        </a:rPr>
                        <a:t>P0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604020202020204" pitchFamily="34" charset="0"/>
                          <a:cs typeface="Segoe UI" panose="020B0604020202020204" pitchFamily="34" charset="0"/>
                        </a:rPr>
                        <a:t>P1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604020202020204" pitchFamily="34" charset="0"/>
                          <a:cs typeface="Segoe UI" panose="020B0604020202020204" pitchFamily="34" charset="0"/>
                        </a:rPr>
                        <a:t>P2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604020202020204" pitchFamily="34" charset="0"/>
                          <a:cs typeface="Segoe UI" panose="020B0604020202020204" pitchFamily="34" charset="0"/>
                        </a:rPr>
                        <a:t>P3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604020202020204" pitchFamily="34" charset="0"/>
                          <a:cs typeface="Segoe UI" panose="020B0604020202020204" pitchFamily="34" charset="0"/>
                        </a:rPr>
                        <a:t>P4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604020202020204" pitchFamily="34" charset="0"/>
                          <a:cs typeface="Segoe UI" panose="020B06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879827"/>
                  </a:ext>
                </a:extLst>
              </a:tr>
              <a:tr h="217685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Integration progression 53.2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752455"/>
                  </a:ext>
                </a:extLst>
              </a:tr>
              <a:tr h="217685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Integration  Regression 53.2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737306"/>
                  </a:ext>
                </a:extLst>
              </a:tr>
              <a:tr h="223498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Automation Regression 53 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004857"/>
                  </a:ext>
                </a:extLst>
              </a:tr>
              <a:tr h="223498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Smoke testing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427698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A3A0DB-2D81-14A7-84FC-7AA6744D084F}"/>
              </a:ext>
            </a:extLst>
          </p:cNvPr>
          <p:cNvSpPr/>
          <p:nvPr/>
        </p:nvSpPr>
        <p:spPr>
          <a:xfrm>
            <a:off x="5540661" y="589515"/>
            <a:ext cx="2945376" cy="294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100" b="1" i="1" dirty="0">
                <a:solidFill>
                  <a:prstClr val="white"/>
                </a:solidFill>
                <a:latin typeface="Segoe UI" panose="020B0604020202020204" pitchFamily="34" charset="0"/>
                <a:cs typeface="Segoe UI" panose="020B0604020202020204" pitchFamily="34" charset="0"/>
              </a:rPr>
              <a:t>Execution</a:t>
            </a:r>
            <a:r>
              <a:rPr lang="en-US" sz="1100" b="1" dirty="0">
                <a:solidFill>
                  <a:prstClr val="white"/>
                </a:solidFill>
                <a:latin typeface="Segoe UI" panose="020B0604020202020204" pitchFamily="34" charset="0"/>
                <a:cs typeface="Segoe UI" panose="020B0604020202020204" pitchFamily="34" charset="0"/>
              </a:rPr>
              <a:t> </a:t>
            </a:r>
            <a:r>
              <a:rPr lang="en-US" sz="1100" b="1" i="1" dirty="0">
                <a:solidFill>
                  <a:prstClr val="white"/>
                </a:solidFill>
                <a:latin typeface="Segoe UI" panose="020B0604020202020204" pitchFamily="34" charset="0"/>
                <a:cs typeface="Segoe UI" panose="020B0604020202020204" pitchFamily="34" charset="0"/>
              </a:rPr>
              <a:t>Highlights</a:t>
            </a:r>
            <a:endParaRPr lang="en-US" sz="1100" b="1" i="1" dirty="0">
              <a:solidFill>
                <a:srgbClr val="FF0000"/>
              </a:solidFill>
              <a:latin typeface="Segoe UI" panose="020B0604020202020204" pitchFamily="34" charset="0"/>
              <a:cs typeface="Segoe UI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A5809A-C7EC-0147-E2BC-3EBDE3DA7109}"/>
              </a:ext>
            </a:extLst>
          </p:cNvPr>
          <p:cNvSpPr/>
          <p:nvPr/>
        </p:nvSpPr>
        <p:spPr>
          <a:xfrm>
            <a:off x="731767" y="1557883"/>
            <a:ext cx="3749015" cy="230911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defTabSz="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/>
                <a:cs typeface="Segoe UI"/>
              </a:rPr>
              <a:t>Offshore team is actively engaged in T-Mobile testing</a:t>
            </a:r>
          </a:p>
          <a:p>
            <a:pPr marL="628650" lvl="1" indent="-171450" defTabSz="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/>
                <a:cs typeface="Segoe UI"/>
              </a:rPr>
              <a:t>Integration Progression 54.2: Execution</a:t>
            </a:r>
            <a:r>
              <a:rPr lang="en-US" sz="1000" b="1" dirty="0">
                <a:solidFill>
                  <a:srgbClr val="000000"/>
                </a:solidFill>
                <a:latin typeface="Segoe UI"/>
                <a:cs typeface="Segoe UI"/>
              </a:rPr>
              <a:t> - </a:t>
            </a:r>
            <a:r>
              <a:rPr lang="en-US" sz="1000" dirty="0">
                <a:solidFill>
                  <a:srgbClr val="000000"/>
                </a:solidFill>
                <a:latin typeface="Segoe UI"/>
                <a:cs typeface="Segoe UI"/>
              </a:rPr>
              <a:t>In Progress</a:t>
            </a:r>
          </a:p>
          <a:p>
            <a:pPr marL="628650" lvl="1" indent="-171450" defTabSz="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/>
                <a:cs typeface="Segoe UI"/>
              </a:rPr>
              <a:t>Integration Regression 54.2: Execution </a:t>
            </a:r>
            <a:r>
              <a:rPr lang="en-US" sz="1000" b="1" dirty="0">
                <a:solidFill>
                  <a:srgbClr val="000000"/>
                </a:solidFill>
                <a:latin typeface="Segoe UI"/>
                <a:cs typeface="Segoe UI"/>
              </a:rPr>
              <a:t>- </a:t>
            </a:r>
            <a:r>
              <a:rPr lang="en-US" sz="1000" dirty="0">
                <a:solidFill>
                  <a:srgbClr val="000000"/>
                </a:solidFill>
                <a:latin typeface="Segoe UI"/>
                <a:cs typeface="Segoe UI"/>
              </a:rPr>
              <a:t>In Progress</a:t>
            </a:r>
          </a:p>
          <a:p>
            <a:pPr marL="628650" lvl="1" indent="-171450" defTabSz="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/>
                <a:cs typeface="Segoe UI"/>
              </a:rPr>
              <a:t>Integration Regression 53.2: Execution </a:t>
            </a:r>
            <a:r>
              <a:rPr lang="en-US" sz="1000" b="1" dirty="0">
                <a:solidFill>
                  <a:srgbClr val="000000"/>
                </a:solidFill>
                <a:latin typeface="Segoe UI"/>
                <a:cs typeface="Segoe UI"/>
              </a:rPr>
              <a:t>- </a:t>
            </a:r>
            <a:r>
              <a:rPr lang="en-US" sz="1000" dirty="0">
                <a:solidFill>
                  <a:srgbClr val="000000"/>
                </a:solidFill>
                <a:latin typeface="Segoe UI"/>
                <a:cs typeface="Segoe UI"/>
              </a:rPr>
              <a:t>Completed</a:t>
            </a:r>
          </a:p>
          <a:p>
            <a:pPr marL="628650" lvl="1" indent="-171450" defTabSz="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/>
                <a:cs typeface="Segoe UI"/>
              </a:rPr>
              <a:t>Integration Progression 53.2: Execution</a:t>
            </a:r>
            <a:r>
              <a:rPr lang="en-US" sz="1000" b="1" dirty="0">
                <a:solidFill>
                  <a:srgbClr val="000000"/>
                </a:solidFill>
                <a:latin typeface="Segoe UI"/>
                <a:cs typeface="Segoe UI"/>
              </a:rPr>
              <a:t> - </a:t>
            </a:r>
            <a:r>
              <a:rPr lang="en-US" sz="1000" dirty="0">
                <a:solidFill>
                  <a:srgbClr val="000000"/>
                </a:solidFill>
                <a:latin typeface="Segoe UI"/>
                <a:cs typeface="Segoe UI"/>
              </a:rPr>
              <a:t>Completed</a:t>
            </a:r>
          </a:p>
          <a:p>
            <a:pPr marL="628650" lvl="1" indent="-171450" defTabSz="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  <a:latin typeface="Segoe UI" panose="020B0604020202020204" pitchFamily="34" charset="0"/>
              <a:cs typeface="Segoe UI" panose="020B0604020202020204" pitchFamily="34" charset="0"/>
            </a:endParaRPr>
          </a:p>
          <a:p>
            <a:pPr marL="171450" indent="-171450" defTabSz="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/>
                <a:cs typeface="Segoe UI"/>
              </a:rPr>
              <a:t>Automation regression testing update</a:t>
            </a:r>
          </a:p>
          <a:p>
            <a:pPr marL="628650" lvl="1" indent="-171450" defTabSz="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/>
                <a:cs typeface="Segoe UI"/>
              </a:rPr>
              <a:t>TBD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C4737B-B3BF-DF43-D83A-B33C44547662}"/>
              </a:ext>
            </a:extLst>
          </p:cNvPr>
          <p:cNvSpPr/>
          <p:nvPr/>
        </p:nvSpPr>
        <p:spPr>
          <a:xfrm>
            <a:off x="741401" y="1208259"/>
            <a:ext cx="2869961" cy="303924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100" b="1" i="1" dirty="0">
                <a:solidFill>
                  <a:prstClr val="white"/>
                </a:solidFill>
                <a:latin typeface="Segoe UI" panose="020B0604020202020204" pitchFamily="34" charset="0"/>
                <a:cs typeface="Segoe UI" panose="020B0604020202020204" pitchFamily="34" charset="0"/>
              </a:rPr>
              <a:t>Key Highlights</a:t>
            </a:r>
            <a:endParaRPr lang="en-US" sz="1100" b="1" i="1" dirty="0">
              <a:solidFill>
                <a:srgbClr val="FF0000"/>
              </a:solidFill>
              <a:latin typeface="Segoe UI" panose="020B0604020202020204" pitchFamily="34" charset="0"/>
              <a:cs typeface="Segoe UI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14F210-34FF-0F62-F19B-2F82709B5CA0}"/>
              </a:ext>
            </a:extLst>
          </p:cNvPr>
          <p:cNvSpPr txBox="1"/>
          <p:nvPr/>
        </p:nvSpPr>
        <p:spPr>
          <a:xfrm>
            <a:off x="5594769" y="1206309"/>
            <a:ext cx="24612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sz="900" b="1" dirty="0">
                <a:solidFill>
                  <a:prstClr val="black"/>
                </a:solidFill>
                <a:latin typeface="Segoe UI"/>
              </a:rPr>
              <a:t>Manual (11th May to 15th May)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62291C-ACDF-AD44-C373-77284F83C46A}"/>
              </a:ext>
            </a:extLst>
          </p:cNvPr>
          <p:cNvSpPr txBox="1"/>
          <p:nvPr/>
        </p:nvSpPr>
        <p:spPr>
          <a:xfrm>
            <a:off x="5581202" y="2961017"/>
            <a:ext cx="1679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457200">
              <a:defRPr sz="900" b="1">
                <a:solidFill>
                  <a:prstClr val="black"/>
                </a:solidFill>
                <a:latin typeface="Segoe UI"/>
              </a:defRPr>
            </a:lvl1pPr>
          </a:lstStyle>
          <a:p>
            <a:r>
              <a:rPr lang="en-US" dirty="0"/>
              <a:t>Automation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2FC67D84-59AB-8EF4-C59F-F0D2CA33F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410525"/>
              </p:ext>
            </p:extLst>
          </p:nvPr>
        </p:nvGraphicFramePr>
        <p:xfrm>
          <a:off x="5679927" y="3191849"/>
          <a:ext cx="5292874" cy="752003"/>
        </p:xfrm>
        <a:graphic>
          <a:graphicData uri="http://schemas.openxmlformats.org/drawingml/2006/table">
            <a:tbl>
              <a:tblPr/>
              <a:tblGrid>
                <a:gridCol w="1341500">
                  <a:extLst>
                    <a:ext uri="{9D8B030D-6E8A-4147-A177-3AD203B41FA5}">
                      <a16:colId xmlns:a16="http://schemas.microsoft.com/office/drawing/2014/main" val="4010521003"/>
                    </a:ext>
                  </a:extLst>
                </a:gridCol>
                <a:gridCol w="720983">
                  <a:extLst>
                    <a:ext uri="{9D8B030D-6E8A-4147-A177-3AD203B41FA5}">
                      <a16:colId xmlns:a16="http://schemas.microsoft.com/office/drawing/2014/main" val="2043686837"/>
                    </a:ext>
                  </a:extLst>
                </a:gridCol>
                <a:gridCol w="906487">
                  <a:extLst>
                    <a:ext uri="{9D8B030D-6E8A-4147-A177-3AD203B41FA5}">
                      <a16:colId xmlns:a16="http://schemas.microsoft.com/office/drawing/2014/main" val="3116995582"/>
                    </a:ext>
                  </a:extLst>
                </a:gridCol>
                <a:gridCol w="1161952">
                  <a:extLst>
                    <a:ext uri="{9D8B030D-6E8A-4147-A177-3AD203B41FA5}">
                      <a16:colId xmlns:a16="http://schemas.microsoft.com/office/drawing/2014/main" val="2056568984"/>
                    </a:ext>
                  </a:extLst>
                </a:gridCol>
                <a:gridCol w="1161952">
                  <a:extLst>
                    <a:ext uri="{9D8B030D-6E8A-4147-A177-3AD203B41FA5}">
                      <a16:colId xmlns:a16="http://schemas.microsoft.com/office/drawing/2014/main" val="3846826528"/>
                    </a:ext>
                  </a:extLst>
                </a:gridCol>
              </a:tblGrid>
              <a:tr h="257829">
                <a:tc>
                  <a:txBody>
                    <a:bodyPr/>
                    <a:lstStyle/>
                    <a:p>
                      <a:pPr algn="ctr" rtl="0" font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604020202020204" pitchFamily="34" charset="0"/>
                          <a:cs typeface="Segoe UI" panose="020B0604020202020204" pitchFamily="34" charset="0"/>
                        </a:rPr>
                        <a:t>Release#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604020202020204" pitchFamily="34" charset="0"/>
                          <a:cs typeface="Segoe UI" panose="020B0604020202020204" pitchFamily="34" charset="0"/>
                        </a:rPr>
                        <a:t>Executed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604020202020204" pitchFamily="34" charset="0"/>
                          <a:cs typeface="Segoe UI" panose="020B0604020202020204" pitchFamily="34" charset="0"/>
                        </a:rPr>
                        <a:t>Passed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604020202020204" pitchFamily="34" charset="0"/>
                          <a:cs typeface="Segoe UI" panose="020B0604020202020204" pitchFamily="34" charset="0"/>
                        </a:rPr>
                        <a:t>Failed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Segoe UI"/>
                        </a:rPr>
                        <a:t>In Prog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96409"/>
                  </a:ext>
                </a:extLst>
              </a:tr>
              <a:tr h="247087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defRPr sz="800">
                          <a:latin typeface="Segoe UI"/>
                        </a:defRPr>
                      </a:pP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Segoe UI" panose="020B0604020202020204" pitchFamily="34" charset="0"/>
                        <a:ea typeface="+mn-ea"/>
                        <a:cs typeface="Segoe UI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defRPr sz="800">
                          <a:latin typeface="Segoe UI"/>
                        </a:defRPr>
                      </a:pP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Segoe UI" panose="020B0604020202020204" pitchFamily="34" charset="0"/>
                        <a:ea typeface="+mn-ea"/>
                        <a:cs typeface="Segoe UI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defRPr sz="800">
                          <a:latin typeface="Segoe UI"/>
                        </a:defRPr>
                      </a:pP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Segoe UI" panose="020B0604020202020204" pitchFamily="34" charset="0"/>
                        <a:ea typeface="+mn-ea"/>
                        <a:cs typeface="Segoe UI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defRPr sz="800">
                          <a:latin typeface="Segoe UI"/>
                        </a:defRPr>
                      </a:pP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Segoe UI" panose="020B0604020202020204" pitchFamily="34" charset="0"/>
                        <a:ea typeface="+mn-ea"/>
                        <a:cs typeface="Segoe UI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defRPr sz="800">
                          <a:latin typeface="Segoe UI"/>
                        </a:defRPr>
                      </a:pP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Segoe UI" panose="020B0604020202020204" pitchFamily="34" charset="0"/>
                        <a:ea typeface="+mn-ea"/>
                        <a:cs typeface="Segoe UI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545984"/>
                  </a:ext>
                </a:extLst>
              </a:tr>
              <a:tr h="247087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defRPr sz="800">
                          <a:latin typeface="Segoe UI"/>
                        </a:defRPr>
                      </a:pP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Segoe UI" panose="020B0604020202020204" pitchFamily="34" charset="0"/>
                        <a:ea typeface="+mn-ea"/>
                        <a:cs typeface="Segoe UI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defRPr sz="800">
                          <a:latin typeface="Segoe UI"/>
                        </a:defRPr>
                      </a:pP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Segoe UI" panose="020B0604020202020204" pitchFamily="34" charset="0"/>
                        <a:ea typeface="+mn-ea"/>
                        <a:cs typeface="Segoe UI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defRPr sz="800">
                          <a:latin typeface="Segoe UI"/>
                        </a:defRPr>
                      </a:pP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Segoe UI" panose="020B0604020202020204" pitchFamily="34" charset="0"/>
                        <a:ea typeface="+mn-ea"/>
                        <a:cs typeface="Segoe UI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defRPr sz="800">
                          <a:latin typeface="Segoe UI"/>
                        </a:defRPr>
                      </a:pP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Segoe UI" panose="020B0604020202020204" pitchFamily="34" charset="0"/>
                        <a:ea typeface="+mn-ea"/>
                        <a:cs typeface="Segoe UI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defRPr sz="800">
                          <a:latin typeface="Segoe UI"/>
                        </a:defRPr>
                      </a:pP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Segoe UI" panose="020B0604020202020204" pitchFamily="34" charset="0"/>
                        <a:ea typeface="+mn-ea"/>
                        <a:cs typeface="Segoe UI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200027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FA2C9A75-12D7-9848-17CC-F70E60CB2827}"/>
              </a:ext>
            </a:extLst>
          </p:cNvPr>
          <p:cNvSpPr txBox="1"/>
          <p:nvPr/>
        </p:nvSpPr>
        <p:spPr>
          <a:xfrm>
            <a:off x="5573486" y="4017569"/>
            <a:ext cx="1679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457200">
              <a:defRPr sz="900" b="1">
                <a:solidFill>
                  <a:prstClr val="black"/>
                </a:solidFill>
                <a:latin typeface="Segoe UI"/>
              </a:defRPr>
            </a:lvl1pPr>
          </a:lstStyle>
          <a:p>
            <a:r>
              <a:rPr lang="en-US" dirty="0"/>
              <a:t>Defect Summary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E55DD96-AEF4-7A1C-C1B4-C09C8D772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04061" y="6126480"/>
            <a:ext cx="345225" cy="731520"/>
          </a:xfrm>
        </p:spPr>
        <p:txBody>
          <a:bodyPr anchor="ctr">
            <a:normAutofit/>
          </a:bodyPr>
          <a:lstStyle/>
          <a:p>
            <a:pPr defTabSz="457200">
              <a:spcAft>
                <a:spcPts val="600"/>
              </a:spcAft>
            </a:pPr>
            <a:fld id="{C53C0A73-EE5C-9246-97B4-6AF29FD73FB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spcAft>
                  <a:spcPts val="600"/>
                </a:spcAft>
              </a:pPr>
              <a:t>1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D5001E-DFD3-8BEE-C7BD-48F57B238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688655"/>
              </p:ext>
            </p:extLst>
          </p:nvPr>
        </p:nvGraphicFramePr>
        <p:xfrm>
          <a:off x="5655370" y="1450335"/>
          <a:ext cx="5401334" cy="1284659"/>
        </p:xfrm>
        <a:graphic>
          <a:graphicData uri="http://schemas.openxmlformats.org/drawingml/2006/table">
            <a:tbl>
              <a:tblPr/>
              <a:tblGrid>
                <a:gridCol w="1585878">
                  <a:extLst>
                    <a:ext uri="{9D8B030D-6E8A-4147-A177-3AD203B41FA5}">
                      <a16:colId xmlns:a16="http://schemas.microsoft.com/office/drawing/2014/main" val="4010521003"/>
                    </a:ext>
                  </a:extLst>
                </a:gridCol>
                <a:gridCol w="420862">
                  <a:extLst>
                    <a:ext uri="{9D8B030D-6E8A-4147-A177-3AD203B41FA5}">
                      <a16:colId xmlns:a16="http://schemas.microsoft.com/office/drawing/2014/main" val="4063194916"/>
                    </a:ext>
                  </a:extLst>
                </a:gridCol>
                <a:gridCol w="663758">
                  <a:extLst>
                    <a:ext uri="{9D8B030D-6E8A-4147-A177-3AD203B41FA5}">
                      <a16:colId xmlns:a16="http://schemas.microsoft.com/office/drawing/2014/main" val="2043686837"/>
                    </a:ext>
                  </a:extLst>
                </a:gridCol>
                <a:gridCol w="506858">
                  <a:extLst>
                    <a:ext uri="{9D8B030D-6E8A-4147-A177-3AD203B41FA5}">
                      <a16:colId xmlns:a16="http://schemas.microsoft.com/office/drawing/2014/main" val="1615312928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3116995582"/>
                    </a:ext>
                  </a:extLst>
                </a:gridCol>
                <a:gridCol w="409386">
                  <a:extLst>
                    <a:ext uri="{9D8B030D-6E8A-4147-A177-3AD203B41FA5}">
                      <a16:colId xmlns:a16="http://schemas.microsoft.com/office/drawing/2014/main" val="2056568984"/>
                    </a:ext>
                  </a:extLst>
                </a:gridCol>
                <a:gridCol w="409386">
                  <a:extLst>
                    <a:ext uri="{9D8B030D-6E8A-4147-A177-3AD203B41FA5}">
                      <a16:colId xmlns:a16="http://schemas.microsoft.com/office/drawing/2014/main" val="1051215358"/>
                    </a:ext>
                  </a:extLst>
                </a:gridCol>
                <a:gridCol w="684481">
                  <a:extLst>
                    <a:ext uri="{9D8B030D-6E8A-4147-A177-3AD203B41FA5}">
                      <a16:colId xmlns:a16="http://schemas.microsoft.com/office/drawing/2014/main" val="1585227193"/>
                    </a:ext>
                  </a:extLst>
                </a:gridCol>
              </a:tblGrid>
              <a:tr h="412356">
                <a:tc>
                  <a:txBody>
                    <a:bodyPr/>
                    <a:lstStyle/>
                    <a:p>
                      <a:pPr algn="ctr" rtl="0" font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604020202020204" pitchFamily="34" charset="0"/>
                          <a:cs typeface="Segoe UI" panose="020B0604020202020204" pitchFamily="34" charset="0"/>
                        </a:rPr>
                        <a:t>Release#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604020202020204" pitchFamily="34" charset="0"/>
                          <a:cs typeface="Segoe UI" panose="020B0604020202020204" pitchFamily="34" charset="0"/>
                        </a:rPr>
                        <a:t> 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604020202020204" pitchFamily="34" charset="0"/>
                          <a:cs typeface="Segoe UI" panose="020B0604020202020204" pitchFamily="34" charset="0"/>
                        </a:rPr>
                        <a:t>Passed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604020202020204" pitchFamily="34" charset="0"/>
                          <a:cs typeface="Segoe UI" panose="020B0604020202020204" pitchFamily="34" charset="0"/>
                        </a:rPr>
                        <a:t>Failed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Segoe UI"/>
                        </a:rPr>
                        <a:t>In Prog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/>
                        </a:rPr>
                        <a:t>ress</a:t>
                      </a:r>
                      <a:endParaRPr sz="1000" b="1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604020202020204" pitchFamily="34" charset="0"/>
                          <a:cs typeface="Segoe UI" panose="020B0604020202020204" pitchFamily="34" charset="0"/>
                        </a:rPr>
                        <a:t>No Run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Segoe UI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604020202020204" pitchFamily="34" charset="0"/>
                          <a:cs typeface="Segoe UI" panose="020B0604020202020204" pitchFamily="34" charset="0"/>
                        </a:rPr>
                        <a:t>Blocked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96409"/>
                  </a:ext>
                </a:extLst>
              </a:tr>
              <a:tr h="375781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Integration progression 53.2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1423410"/>
                  </a:ext>
                </a:extLst>
              </a:tr>
              <a:tr h="285515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Integration Regression 53.2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568936"/>
                  </a:ext>
                </a:extLst>
              </a:tr>
              <a:tr h="211007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Segoe UI"/>
                        </a:rPr>
                        <a:t>Prod defects 53.X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67619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161</Words>
  <Application>Microsoft Office PowerPoint</Application>
  <PresentationFormat>Widescreen</PresentationFormat>
  <Paragraphs>87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1_Office Theme</vt:lpstr>
      <vt:lpstr>                                         MDA QA INTG: Delivery Updates</vt:lpstr>
    </vt:vector>
  </TitlesOfParts>
  <Company>Infosys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Kappagantula</dc:creator>
  <cp:lastModifiedBy>Surya Kappagantula</cp:lastModifiedBy>
  <cp:revision>1</cp:revision>
  <dcterms:created xsi:type="dcterms:W3CDTF">2026-05-13T06:37:37Z</dcterms:created>
  <dcterms:modified xsi:type="dcterms:W3CDTF">2026-05-13T06:42:28Z</dcterms:modified>
</cp:coreProperties>
</file>