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3974D-F1FB-4EAE-598B-6E7E5503B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FD27A-BF71-CD34-F2E6-6EB40677F7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1B482-9C55-148A-5E4A-424317F9C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CCFB7-402A-BF8A-9F83-151D9537B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8E831-E9AD-C855-F7E7-BAF593CE0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721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7DD1-FB53-A24C-41AC-C95C78EFE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62CC2-7028-1368-03BC-20CAD2ACB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A5CE6-8863-985A-004E-9D6666180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5BB14-B84E-3649-B7F7-CBBD59188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CC2B2-AF38-FB3D-777B-D916FF90B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28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D1137-CA23-7D81-C7EC-20E397759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59DA8-30CE-05F0-3245-43701B05C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A0699-F2E3-67F0-B537-AA158BBA2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B755FD-4A8C-A117-7DE4-7CB4B7FE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E6D30-5CCD-9CE7-CB0C-33358F662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74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693B3-047D-2C5D-1A8E-9A57F2FCF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E17A4-A77A-2A5F-174C-A1C7ED86E3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D23AF-2A5D-D858-F7D1-5D85DD5E5F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571347-7759-E67C-F73F-FE0121EF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F14A82-D339-5494-FF7D-1212D988E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E758F-454F-A170-57E8-88AD22178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006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10E74-3BC5-8AAD-C66C-054DBC273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056A8-A836-9771-0D5E-5D639C986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2B667-54E6-3C33-6EFD-922F67D231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11E956-6E80-83A9-11BD-FC180F11C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8E639-B24A-DFFF-57B8-B314530786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F5FAF5-40A5-7BDF-7F25-EFAB4DE42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B4F78D-126C-CB34-2DDE-94D9051E8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25EBE5-632B-EFF8-B4F5-47EF4ADD5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760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AC0FB-D2CA-E0D3-B069-520059EC9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827D8E-0372-F7C3-03FF-CC0481C1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DD733-4F71-DF24-1A33-06C7BA3AA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F20BDD-74DF-6ABB-FB99-F316234B0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2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3F7652-B372-55AA-CEDB-8D892FDEE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ED008C-651B-9C92-F2CF-CFE58F5C9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73729-A999-7C87-7C87-E4CAFD82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268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F8D5-B7DE-D7B9-C481-D3F9534A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5F951-94D7-0AC9-82A8-C2558295B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13AAB-7D5D-C970-2759-4D3D9D53B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38C40-7A47-5504-B876-4E6ACDB0D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1E85F-6F1C-8F89-2FCA-D1338C815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2FE30-7B71-280B-A4D0-CAF2CC1D3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61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87E-306D-04F7-FECB-DA50338B9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072779-A033-432B-D075-68BCFAFB2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9F16A-1D16-DE52-B9CB-897B6E54F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AB07A-AF2C-AD71-5FF8-9ABDE91D9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8DFB7-3938-7D6D-81D6-B51F20513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670D0-6B8D-01E1-BDB0-3C8AEE99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39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B597-598F-BF85-2484-4A89E3BAD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7C20EC-0ABE-41A2-483C-585FC2F23D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F2B41-EB00-8338-AAD2-856CCAF2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41478-EBFE-8147-4D43-8637A2F3B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47151-8210-29DC-9455-90186196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94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68A3F-E108-7E60-6D79-F9904677E9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DDA53A-B48E-7FDB-B746-8AEE79E97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3CA76-B74D-FE74-BA39-BF41E73EA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4D00E-2A89-C242-8AB1-C90076150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122E9-845D-FE82-F05C-D82FCD925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352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 Slide / 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C0A73-EE5C-9246-97B4-6AF29FD73F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50409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640210-77E2-9484-06A2-5941B0F1D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3AAFF1-CF1F-EAE1-7812-81CAA197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657A-E684-E47A-E282-E7ECB0585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C98AA7-5CB1-4BE3-9D5B-E12C9AF6A81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B6C9E-B377-6B25-21F4-94763B441F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ECC1D-4405-A2DB-D679-487A354A8F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BE45E6-D08F-4AE8-A5AB-B3E76F362C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9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9CEAF07-016B-B46B-A891-43566D92A9E5}"/>
              </a:ext>
            </a:extLst>
          </p:cNvPr>
          <p:cNvSpPr/>
          <p:nvPr/>
        </p:nvSpPr>
        <p:spPr>
          <a:xfrm>
            <a:off x="6060355" y="944547"/>
            <a:ext cx="5721344" cy="509853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2E940B0-3AE7-02FC-6399-FA5E06A17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758" y="144454"/>
            <a:ext cx="6643170" cy="389949"/>
          </a:xfr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MDA QA INTG: Delivery Updates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2E79932-09FE-E1F9-6BC0-A348DB98F05A}"/>
              </a:ext>
            </a:extLst>
          </p:cNvPr>
          <p:cNvGraphicFramePr>
            <a:graphicFrameLocks noGrp="1"/>
          </p:cNvGraphicFramePr>
          <p:nvPr/>
        </p:nvGraphicFramePr>
        <p:xfrm>
          <a:off x="6158918" y="4278640"/>
          <a:ext cx="5492849" cy="1225545"/>
        </p:xfrm>
        <a:graphic>
          <a:graphicData uri="http://schemas.openxmlformats.org/drawingml/2006/table">
            <a:tbl>
              <a:tblPr/>
              <a:tblGrid>
                <a:gridCol w="1377955">
                  <a:extLst>
                    <a:ext uri="{9D8B030D-6E8A-4147-A177-3AD203B41FA5}">
                      <a16:colId xmlns:a16="http://schemas.microsoft.com/office/drawing/2014/main" val="1438297696"/>
                    </a:ext>
                  </a:extLst>
                </a:gridCol>
                <a:gridCol w="551259">
                  <a:extLst>
                    <a:ext uri="{9D8B030D-6E8A-4147-A177-3AD203B41FA5}">
                      <a16:colId xmlns:a16="http://schemas.microsoft.com/office/drawing/2014/main" val="986964227"/>
                    </a:ext>
                  </a:extLst>
                </a:gridCol>
                <a:gridCol w="734198">
                  <a:extLst>
                    <a:ext uri="{9D8B030D-6E8A-4147-A177-3AD203B41FA5}">
                      <a16:colId xmlns:a16="http://schemas.microsoft.com/office/drawing/2014/main" val="872245016"/>
                    </a:ext>
                  </a:extLst>
                </a:gridCol>
                <a:gridCol w="543151">
                  <a:extLst>
                    <a:ext uri="{9D8B030D-6E8A-4147-A177-3AD203B41FA5}">
                      <a16:colId xmlns:a16="http://schemas.microsoft.com/office/drawing/2014/main" val="2458755031"/>
                    </a:ext>
                  </a:extLst>
                </a:gridCol>
                <a:gridCol w="770517">
                  <a:extLst>
                    <a:ext uri="{9D8B030D-6E8A-4147-A177-3AD203B41FA5}">
                      <a16:colId xmlns:a16="http://schemas.microsoft.com/office/drawing/2014/main" val="1307860481"/>
                    </a:ext>
                  </a:extLst>
                </a:gridCol>
                <a:gridCol w="770517">
                  <a:extLst>
                    <a:ext uri="{9D8B030D-6E8A-4147-A177-3AD203B41FA5}">
                      <a16:colId xmlns:a16="http://schemas.microsoft.com/office/drawing/2014/main" val="2449277555"/>
                    </a:ext>
                  </a:extLst>
                </a:gridCol>
                <a:gridCol w="745252">
                  <a:extLst>
                    <a:ext uri="{9D8B030D-6E8A-4147-A177-3AD203B41FA5}">
                      <a16:colId xmlns:a16="http://schemas.microsoft.com/office/drawing/2014/main" val="3476617854"/>
                    </a:ext>
                  </a:extLst>
                </a:gridCol>
              </a:tblGrid>
              <a:tr h="34317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Releases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879827"/>
                  </a:ext>
                </a:extLst>
              </a:tr>
              <a:tr h="217685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Integration progression 51.2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0752455"/>
                  </a:ext>
                </a:extLst>
              </a:tr>
              <a:tr h="217685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Integration  Regression 51.2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9737306"/>
                  </a:ext>
                </a:extLst>
              </a:tr>
              <a:tr h="223498">
                <a:tc>
                  <a:txBody>
                    <a:bodyPr/>
                    <a:lstStyle/>
                    <a:p>
                      <a:pPr algn="l" fontAlgn="b">
                        <a:lnSpc>
                          <a:spcPct val="150000"/>
                        </a:lnSpc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Automation Regression 50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004857"/>
                  </a:ext>
                </a:extLst>
              </a:tr>
              <a:tr h="223498">
                <a:tc>
                  <a:txBody>
                    <a:bodyPr/>
                    <a:lstStyle/>
                    <a:p>
                      <a:pPr algn="l" fontAlgn="b">
                        <a:lnSpc>
                          <a:spcPct val="150000"/>
                        </a:lnSpc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Smoke testing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427698"/>
                  </a:ext>
                </a:extLst>
              </a:tr>
            </a:tbl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A3A0DB-2D81-14A7-84FC-7AA6744D084F}"/>
              </a:ext>
            </a:extLst>
          </p:cNvPr>
          <p:cNvSpPr/>
          <p:nvPr/>
        </p:nvSpPr>
        <p:spPr>
          <a:xfrm>
            <a:off x="6614327" y="530777"/>
            <a:ext cx="3927168" cy="2945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1" dirty="0">
                <a:latin typeface="Arial" panose="020B0604020202020204" pitchFamily="34" charset="0"/>
                <a:cs typeface="Arial" panose="020B0604020202020204" pitchFamily="34" charset="0"/>
              </a:rPr>
              <a:t>Execution</a:t>
            </a:r>
            <a:r>
              <a:rPr lang="en-US" sz="11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b="1" i="1" dirty="0">
                <a:latin typeface="Arial" panose="020B0604020202020204" pitchFamily="34" charset="0"/>
                <a:cs typeface="Arial" panose="020B0604020202020204" pitchFamily="34" charset="0"/>
              </a:rPr>
              <a:t>Highlights</a:t>
            </a:r>
            <a:endParaRPr lang="en-US" sz="1100" b="1" i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809A-C7EC-0147-E2BC-3EBDE3DA7109}"/>
              </a:ext>
            </a:extLst>
          </p:cNvPr>
          <p:cNvSpPr/>
          <p:nvPr/>
        </p:nvSpPr>
        <p:spPr>
          <a:xfrm>
            <a:off x="255486" y="1557882"/>
            <a:ext cx="5542569" cy="230911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Offshore team is actively engaged in T-Mobile testing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Progression 51.2: Execution</a:t>
            </a:r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Progress</a:t>
            </a:r>
            <a:endParaRPr lang="en-US" sz="10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Regression 51.2: Execution </a:t>
            </a:r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Progress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Regression 50.2: Execution </a:t>
            </a:r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Completed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Progression 50.2: Execution</a:t>
            </a:r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Completed</a:t>
            </a:r>
            <a:endParaRPr lang="en-US" sz="10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Automation regression testing update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Yet to have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C4737B-B3BF-DF43-D83A-B33C44547662}"/>
              </a:ext>
            </a:extLst>
          </p:cNvPr>
          <p:cNvSpPr/>
          <p:nvPr/>
        </p:nvSpPr>
        <p:spPr>
          <a:xfrm>
            <a:off x="815273" y="546855"/>
            <a:ext cx="3826615" cy="3039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1" dirty="0">
                <a:latin typeface="Arial" panose="020B0604020202020204" pitchFamily="34" charset="0"/>
                <a:cs typeface="Arial" panose="020B0604020202020204" pitchFamily="34" charset="0"/>
              </a:rPr>
              <a:t>Key Highlights</a:t>
            </a:r>
            <a:endParaRPr lang="en-US" sz="1100" b="1" i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14F210-34FF-0F62-F19B-2F82709B5CA0}"/>
              </a:ext>
            </a:extLst>
          </p:cNvPr>
          <p:cNvSpPr txBox="1"/>
          <p:nvPr/>
        </p:nvSpPr>
        <p:spPr>
          <a:xfrm>
            <a:off x="6060355" y="1037658"/>
            <a:ext cx="25175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Manual (9</a:t>
            </a:r>
            <a:r>
              <a:rPr lang="en-US" sz="900" b="1" baseline="30000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900" b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Feb to 13</a:t>
            </a:r>
            <a:r>
              <a:rPr lang="en-US" sz="900" b="1" baseline="30000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900" b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Feb)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62291C-ACDF-AD44-C373-77284F83C46A}"/>
              </a:ext>
            </a:extLst>
          </p:cNvPr>
          <p:cNvSpPr txBox="1"/>
          <p:nvPr/>
        </p:nvSpPr>
        <p:spPr>
          <a:xfrm>
            <a:off x="6090070" y="2853362"/>
            <a:ext cx="22399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Automation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2FC67D84-59AB-8EF4-C59F-F0D2CA33F40B}"/>
              </a:ext>
            </a:extLst>
          </p:cNvPr>
          <p:cNvGraphicFramePr>
            <a:graphicFrameLocks noGrp="1"/>
          </p:cNvGraphicFramePr>
          <p:nvPr/>
        </p:nvGraphicFramePr>
        <p:xfrm>
          <a:off x="6179862" y="3133974"/>
          <a:ext cx="5492849" cy="752003"/>
        </p:xfrm>
        <a:graphic>
          <a:graphicData uri="http://schemas.openxmlformats.org/drawingml/2006/table">
            <a:tbl>
              <a:tblPr/>
              <a:tblGrid>
                <a:gridCol w="1392185">
                  <a:extLst>
                    <a:ext uri="{9D8B030D-6E8A-4147-A177-3AD203B41FA5}">
                      <a16:colId xmlns:a16="http://schemas.microsoft.com/office/drawing/2014/main" val="4010521003"/>
                    </a:ext>
                  </a:extLst>
                </a:gridCol>
                <a:gridCol w="748223">
                  <a:extLst>
                    <a:ext uri="{9D8B030D-6E8A-4147-A177-3AD203B41FA5}">
                      <a16:colId xmlns:a16="http://schemas.microsoft.com/office/drawing/2014/main" val="2043686837"/>
                    </a:ext>
                  </a:extLst>
                </a:gridCol>
                <a:gridCol w="940735">
                  <a:extLst>
                    <a:ext uri="{9D8B030D-6E8A-4147-A177-3AD203B41FA5}">
                      <a16:colId xmlns:a16="http://schemas.microsoft.com/office/drawing/2014/main" val="3116995582"/>
                    </a:ext>
                  </a:extLst>
                </a:gridCol>
                <a:gridCol w="1205853">
                  <a:extLst>
                    <a:ext uri="{9D8B030D-6E8A-4147-A177-3AD203B41FA5}">
                      <a16:colId xmlns:a16="http://schemas.microsoft.com/office/drawing/2014/main" val="2056568984"/>
                    </a:ext>
                  </a:extLst>
                </a:gridCol>
                <a:gridCol w="1205853">
                  <a:extLst>
                    <a:ext uri="{9D8B030D-6E8A-4147-A177-3AD203B41FA5}">
                      <a16:colId xmlns:a16="http://schemas.microsoft.com/office/drawing/2014/main" val="3846826528"/>
                    </a:ext>
                  </a:extLst>
                </a:gridCol>
              </a:tblGrid>
              <a:tr h="2578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Release#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Executed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Passed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Failed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96409"/>
                  </a:ext>
                </a:extLst>
              </a:tr>
              <a:tr h="247087">
                <a:tc>
                  <a:txBody>
                    <a:bodyPr/>
                    <a:lstStyle/>
                    <a:p>
                      <a:pPr algn="l" fontAlgn="b">
                        <a:lnSpc>
                          <a:spcPct val="150000"/>
                        </a:lnSpc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8545984"/>
                  </a:ext>
                </a:extLst>
              </a:tr>
              <a:tr h="247087">
                <a:tc>
                  <a:txBody>
                    <a:bodyPr/>
                    <a:lstStyle/>
                    <a:p>
                      <a:pPr algn="l" fontAlgn="b">
                        <a:lnSpc>
                          <a:spcPct val="150000"/>
                        </a:lnSpc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2000270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FA2C9A75-12D7-9848-17CC-F70E60CB2827}"/>
              </a:ext>
            </a:extLst>
          </p:cNvPr>
          <p:cNvSpPr txBox="1"/>
          <p:nvPr/>
        </p:nvSpPr>
        <p:spPr>
          <a:xfrm>
            <a:off x="6096000" y="3972903"/>
            <a:ext cx="22399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Defect Summary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5E55DD96-AEF4-7A1C-C1B4-C09C8D772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080" y="6126480"/>
            <a:ext cx="460300" cy="73152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53C0A73-EE5C-9246-97B4-6AF29FD73FB0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7D5001E-DFD3-8BEE-C7BD-48F57B238909}"/>
              </a:ext>
            </a:extLst>
          </p:cNvPr>
          <p:cNvGraphicFramePr>
            <a:graphicFrameLocks noGrp="1"/>
          </p:cNvGraphicFramePr>
          <p:nvPr/>
        </p:nvGraphicFramePr>
        <p:xfrm>
          <a:off x="6147120" y="1450334"/>
          <a:ext cx="5513794" cy="1357497"/>
        </p:xfrm>
        <a:graphic>
          <a:graphicData uri="http://schemas.openxmlformats.org/drawingml/2006/table">
            <a:tbl>
              <a:tblPr/>
              <a:tblGrid>
                <a:gridCol w="1608429">
                  <a:extLst>
                    <a:ext uri="{9D8B030D-6E8A-4147-A177-3AD203B41FA5}">
                      <a16:colId xmlns:a16="http://schemas.microsoft.com/office/drawing/2014/main" val="4010521003"/>
                    </a:ext>
                  </a:extLst>
                </a:gridCol>
                <a:gridCol w="376063">
                  <a:extLst>
                    <a:ext uri="{9D8B030D-6E8A-4147-A177-3AD203B41FA5}">
                      <a16:colId xmlns:a16="http://schemas.microsoft.com/office/drawing/2014/main" val="4063194916"/>
                    </a:ext>
                  </a:extLst>
                </a:gridCol>
                <a:gridCol w="707588">
                  <a:extLst>
                    <a:ext uri="{9D8B030D-6E8A-4147-A177-3AD203B41FA5}">
                      <a16:colId xmlns:a16="http://schemas.microsoft.com/office/drawing/2014/main" val="2043686837"/>
                    </a:ext>
                  </a:extLst>
                </a:gridCol>
                <a:gridCol w="540327">
                  <a:extLst>
                    <a:ext uri="{9D8B030D-6E8A-4147-A177-3AD203B41FA5}">
                      <a16:colId xmlns:a16="http://schemas.microsoft.com/office/drawing/2014/main" val="1615312928"/>
                    </a:ext>
                  </a:extLst>
                </a:gridCol>
                <a:gridCol w="678873">
                  <a:extLst>
                    <a:ext uri="{9D8B030D-6E8A-4147-A177-3AD203B41FA5}">
                      <a16:colId xmlns:a16="http://schemas.microsoft.com/office/drawing/2014/main" val="3116995582"/>
                    </a:ext>
                  </a:extLst>
                </a:gridCol>
                <a:gridCol w="436418">
                  <a:extLst>
                    <a:ext uri="{9D8B030D-6E8A-4147-A177-3AD203B41FA5}">
                      <a16:colId xmlns:a16="http://schemas.microsoft.com/office/drawing/2014/main" val="2056568984"/>
                    </a:ext>
                  </a:extLst>
                </a:gridCol>
                <a:gridCol w="436418">
                  <a:extLst>
                    <a:ext uri="{9D8B030D-6E8A-4147-A177-3AD203B41FA5}">
                      <a16:colId xmlns:a16="http://schemas.microsoft.com/office/drawing/2014/main" val="1051215358"/>
                    </a:ext>
                  </a:extLst>
                </a:gridCol>
                <a:gridCol w="729678">
                  <a:extLst>
                    <a:ext uri="{9D8B030D-6E8A-4147-A177-3AD203B41FA5}">
                      <a16:colId xmlns:a16="http://schemas.microsoft.com/office/drawing/2014/main" val="1585227193"/>
                    </a:ext>
                  </a:extLst>
                </a:gridCol>
              </a:tblGrid>
              <a:tr h="4123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Release#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Total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Passed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Failed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Run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Applicable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96409"/>
                  </a:ext>
                </a:extLst>
              </a:tr>
              <a:tr h="375781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Integration progression 51.2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1423410"/>
                  </a:ext>
                </a:extLst>
              </a:tr>
              <a:tr h="285515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Integration Regression 51.2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568936"/>
                  </a:ext>
                </a:extLst>
              </a:tr>
              <a:tr h="21100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Prod defects 50.X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6761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804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</Words>
  <Application>Microsoft Office PowerPoint</Application>
  <PresentationFormat>Widescreen</PresentationFormat>
  <Paragraphs>73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MDA QA INTG: Delivery Updates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Surya Kappagantula</dc:creator>
  <cp:lastModifiedBy>Surya Kappagantula</cp:lastModifiedBy>
  <cp:revision>1</cp:revision>
  <dcterms:created xsi:type="dcterms:W3CDTF">2026-03-12T06:05:16Z</dcterms:created>
  <dcterms:modified xsi:type="dcterms:W3CDTF">2026-03-12T06:05:34Z</dcterms:modified>
</cp:coreProperties>
</file>